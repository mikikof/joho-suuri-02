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54864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9CA3AF"/>
                </a:solidFill>
                <a:latin typeface="Yu Gothic"/>
                <a:ea typeface="Yu Gothic"/>
              </a:rPr>
              <a:t>平成国際大学 情報デザイン学部 ／ Lecture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1F2937"/>
                </a:solidFill>
                <a:latin typeface="Yu Gothic"/>
                <a:ea typeface="Yu Gothic"/>
              </a:rPr>
              <a:t>情報数理入門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926080"/>
            <a:ext cx="2194560" cy="64008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</a:rPr>
              <a:t>第 3 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1E3A8A"/>
                </a:solidFill>
                <a:latin typeface="Yu Gothic"/>
                <a:ea typeface="Yu Gothic"/>
              </a:rPr>
              <a:t>図形と</a:t>
            </a:r>
          </a:p>
          <a:p>
            <a:pPr algn="l">
              <a:lnSpc>
                <a:spcPct val="110000"/>
              </a:lnSpc>
            </a:pPr>
            <a:r>
              <a:rPr sz="6400" b="1">
                <a:solidFill>
                  <a:srgbClr val="1E3A8A"/>
                </a:solidFill>
                <a:latin typeface="Yu Gothic"/>
                <a:ea typeface="Yu Gothic"/>
              </a:rPr>
              <a:t>方程式。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4B5563"/>
                </a:solidFill>
                <a:latin typeface="Yu Gothic"/>
                <a:ea typeface="Yu Gothic"/>
              </a:rPr>
              <a:t>小船 幹生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Overview ｜ 今日の全体像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1F2937"/>
                </a:solidFill>
                <a:latin typeface="Yu Gothic"/>
                <a:ea typeface="Yu Gothic"/>
              </a:rPr>
              <a:t>身の回りの「形」を、式で書く。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4B5563"/>
                </a:solidFill>
                <a:latin typeface="Yu Gothic"/>
                <a:ea typeface="Yu Gothic"/>
              </a:rPr>
              <a:t>位置 → 距離 → 円 → 領域 → 似ている度。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4B5563"/>
                </a:solidFill>
                <a:latin typeface="Yu Gothic"/>
                <a:ea typeface="Yu Gothic"/>
              </a:rPr>
              <a:t>スライダーを動かしながら、式とグラフが「同じものの裏表」だと体感する。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1431" y="3886200"/>
            <a:ext cx="2157984" cy="2011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023" y="4050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Yu Gothic"/>
                <a:ea typeface="Yu Gothic"/>
              </a:rPr>
              <a:t>01 ／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023" y="45262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Yu Gothic"/>
                <a:ea typeface="Yu Gothic"/>
              </a:rPr>
              <a:t>座標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023" y="5303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5563"/>
                </a:solidFill>
                <a:latin typeface="Yu Gothic"/>
                <a:ea typeface="Yu Gothic"/>
              </a:rPr>
              <a:t>位置を 2 つの数で表す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9143" y="3886200"/>
            <a:ext cx="2157984" cy="2011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3735" y="4050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Yu Gothic"/>
                <a:ea typeface="Yu Gothic"/>
              </a:rPr>
              <a:t>02 ／ PART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735" y="45262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Yu Gothic"/>
                <a:ea typeface="Yu Gothic"/>
              </a:rPr>
              <a:t>距離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3735" y="5303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5563"/>
                </a:solidFill>
                <a:latin typeface="Yu Gothic"/>
                <a:ea typeface="Yu Gothic"/>
              </a:rPr>
              <a:t>2 点が決まれば距離も決まる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6855" y="3886200"/>
            <a:ext cx="2157984" cy="2011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1447" y="4050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Yu Gothic"/>
                <a:ea typeface="Yu Gothic"/>
              </a:rPr>
              <a:t>03 ／ PART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447" y="45262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Yu Gothic"/>
                <a:ea typeface="Yu Gothic"/>
              </a:rPr>
              <a:t>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447" y="5303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5563"/>
                </a:solidFill>
                <a:latin typeface="Yu Gothic"/>
                <a:ea typeface="Yu Gothic"/>
              </a:rPr>
              <a:t>等距離の点を集めると…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4567" y="3886200"/>
            <a:ext cx="2157984" cy="2011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49159" y="4050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Yu Gothic"/>
                <a:ea typeface="Yu Gothic"/>
              </a:rPr>
              <a:t>04 ／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9159" y="45262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Yu Gothic"/>
                <a:ea typeface="Yu Gothic"/>
              </a:rPr>
              <a:t>領域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9159" y="5303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5563"/>
                </a:solidFill>
                <a:latin typeface="Yu Gothic"/>
                <a:ea typeface="Yu Gothic"/>
              </a:rPr>
              <a:t>不等号で「内・外」を分ける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2279" y="3886200"/>
            <a:ext cx="2157984" cy="20116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6871" y="4050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Yu Gothic"/>
                <a:ea typeface="Yu Gothic"/>
              </a:rPr>
              <a:t>05 ／ PART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6871" y="45262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Yu Gothic"/>
                <a:ea typeface="Yu Gothic"/>
              </a:rPr>
              <a:t>類似度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6871" y="53035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4B5563"/>
                </a:solidFill>
                <a:latin typeface="Yu Gothic"/>
                <a:ea typeface="Yu Gothic"/>
              </a:rPr>
              <a:t>距離は「近さ」を測る道具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9CA3AF"/>
                </a:solidFill>
                <a:latin typeface="Yu Gothic"/>
                <a:ea typeface="Yu Gothic"/>
              </a:rPr>
              <a:t>今日の問いから始める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>
                <a:solidFill>
                  <a:srgbClr val="1F2937"/>
                </a:solidFill>
                <a:latin typeface="Yu Gothic"/>
                <a:ea typeface="Yu Gothic"/>
              </a:rPr>
              <a:t>「近い」って、</a:t>
            </a:r>
          </a:p>
          <a:p>
            <a:pPr algn="l">
              <a:lnSpc>
                <a:spcPct val="110000"/>
              </a:lnSpc>
            </a:pPr>
            <a:r>
              <a:rPr sz="6000" b="1">
                <a:solidFill>
                  <a:srgbClr val="1E3A8A"/>
                </a:solidFill>
                <a:latin typeface="Yu Gothic"/>
                <a:ea typeface="Yu Gothic"/>
              </a:rPr>
              <a:t>どう決める？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Yu Gothic"/>
                <a:ea typeface="Yu Gothic"/>
              </a:rPr>
              <a:t>問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B5563"/>
                </a:solidFill>
                <a:latin typeface="Yu Gothic"/>
                <a:ea typeface="Yu Gothic"/>
              </a:rPr>
              <a:t>家の近所で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34340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F2937"/>
                </a:solidFill>
                <a:latin typeface="Yu Gothic"/>
                <a:ea typeface="Yu Gothic"/>
              </a:rPr>
              <a:t>ATM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074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どこが「徒歩 5 分以内」？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4114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9CA3AF"/>
                </a:solidFill>
                <a:latin typeface="Yu Gothic"/>
                <a:ea typeface="Yu Gothic"/>
              </a:rPr>
              <a:t>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2918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520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BEAFE"/>
                </a:solidFill>
                <a:latin typeface="Yu Gothic"/>
                <a:ea typeface="Yu Gothic"/>
              </a:rPr>
              <a:t>問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31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CBD5E1"/>
                </a:solidFill>
                <a:latin typeface="Yu Gothic"/>
                <a:ea typeface="Yu Gothic"/>
              </a:rPr>
              <a:t>投資先で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34340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Yu Gothic"/>
                <a:ea typeface="Yu Gothic"/>
              </a:rPr>
              <a:t>似た株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074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BD5E1"/>
                </a:solidFill>
                <a:latin typeface="Yu Gothic"/>
                <a:ea typeface="Yu Gothic"/>
              </a:rPr>
              <a:t>どれが自分の好みに「近い」？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B5563"/>
                </a:solidFill>
                <a:latin typeface="Yu Gothic"/>
                <a:ea typeface="Yu Gothic"/>
              </a:rPr>
              <a:t>— どちらも「近さ」を数で決めれば答えが出る。今日のキーワードは </a:t>
            </a:r>
            <a:r>
              <a:rPr sz="2200" b="1">
                <a:solidFill>
                  <a:srgbClr val="1E3A8A"/>
                </a:solidFill>
                <a:latin typeface="Yu Gothic"/>
                <a:ea typeface="Yu Gothic"/>
              </a:rPr>
              <a:t>距離。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93C5FD"/>
                </a:solidFill>
                <a:latin typeface="Yu Gothic"/>
                <a:ea typeface="Yu Gothic"/>
              </a:rPr>
              <a:t>P A R T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Yu Gothic"/>
                <a:ea typeface="Yu Gothic"/>
              </a:rPr>
              <a:t>位置は、</a:t>
            </a:r>
          </a:p>
          <a:p>
            <a:pPr algn="l">
              <a:lnSpc>
                <a:spcPct val="115000"/>
              </a:lnSpc>
            </a:pPr>
            <a:r>
              <a:rPr sz="7200" b="1">
                <a:solidFill>
                  <a:srgbClr val="F59E0B"/>
                </a:solidFill>
                <a:latin typeface="Yu Gothic"/>
                <a:ea typeface="Yu Gothic"/>
              </a:rPr>
              <a:t>2 つの数で書ける。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CBD5E1"/>
                </a:solidFill>
                <a:latin typeface="Yu Gothic"/>
                <a:ea typeface="Yu Gothic"/>
              </a:rPr>
              <a:t>身の回りの「位置」も、お金の世界の「立ち位置」も、同じ仕組み（座標）で書ける。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Story 1-1 ｜ 身の回りで、位置を伝える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2937"/>
                </a:solidFill>
                <a:latin typeface="Yu Gothic"/>
                <a:ea typeface="Yu Gothic"/>
              </a:rPr>
              <a:t>「窓側から 3 列目、前から 2 番目」。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Yu Gothic"/>
                <a:ea typeface="Yu Gothic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待ち合わせ、座席表、宅配の住所、ゲームの当たり判定 ——</a:t>
            </a:r>
          </a:p>
          <a:p>
            <a:pPr algn="l">
              <a:lnSpc>
                <a:spcPct val="145000"/>
              </a:lnSpc>
            </a:pP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私たちは普段、位置を </a:t>
            </a:r>
            <a:r>
              <a:rPr sz="1900" b="1">
                <a:solidFill>
                  <a:srgbClr val="1F2937"/>
                </a:solidFill>
                <a:latin typeface="Yu Gothic"/>
                <a:ea typeface="Yu Gothic"/>
              </a:rPr>
              <a:t>2 つの数の組</a:t>
            </a: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で伝えている。 数学の言葉で書くと </a:t>
            </a:r>
            <a:r>
              <a:rPr sz="2200" b="1">
                <a:solidFill>
                  <a:srgbClr val="1E3A8A"/>
                </a:solidFill>
                <a:latin typeface="Yu Gothic"/>
                <a:ea typeface="Yu Gothic"/>
              </a:rPr>
              <a:t>(x, y)</a:t>
            </a: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4434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45994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教室の座席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5074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B5563"/>
                </a:solidFill>
                <a:latin typeface="Yu Gothic"/>
                <a:ea typeface="Yu Gothic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5486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(列, 番目)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767" y="4434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45994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街の地図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5074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B5563"/>
                </a:solidFill>
                <a:latin typeface="Yu Gothic"/>
                <a:ea typeface="Yu Gothic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5486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(東に何 m, 北に何 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7527" y="443484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6127" y="45994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スマホ画面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5074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DBEAFE"/>
                </a:solidFill>
                <a:latin typeface="Yu Gothic"/>
                <a:ea typeface="Yu Gothic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54864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(横 px, 縦 px)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Interactive ｜ 街にお店を 1 軒、置いてみる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2937"/>
                </a:solidFill>
                <a:latin typeface="Yu Gothic"/>
                <a:ea typeface="Yu Gothic"/>
              </a:rPr>
              <a:t>2 つのスライダーで、点が動く。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原点（駅）から見た「東に x m、北に y m」。それだけで街のどこにでも点が打てる。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2937"/>
                </a:solidFill>
                <a:latin typeface="Yu Gothic"/>
                <a:ea typeface="Yu Gothic"/>
              </a:rPr>
              <a:t>お店の位置  ＝  </a:t>
            </a:r>
            <a:r>
              <a:rPr sz="3800" b="1">
                <a:solidFill>
                  <a:srgbClr val="1E3A8A"/>
                </a:solidFill>
                <a:latin typeface="Yu Gothic"/>
                <a:ea typeface="Yu Gothic"/>
              </a:rPr>
              <a:t>( 300 ,  200 )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10972800" cy="210312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59669"/>
                </a:solidFill>
                <a:latin typeface="Yu Gothic"/>
                <a:ea typeface="Yu Gothic"/>
              </a:rPr>
              <a:t>スプレッドシートで再現してみる ｜ タブ 1_座標 ／ XY 散布図に点を打つ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7548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7548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7183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B5563"/>
                </a:solidFill>
                <a:latin typeface="Yu Gothic"/>
                <a:ea typeface="Yu Gothic"/>
              </a:rPr>
              <a:t>A 列に x、B 列に y の見出し。A2 に 300、B2 に 200。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2120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120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1755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B5563"/>
                </a:solidFill>
                <a:latin typeface="Yu Gothic"/>
                <a:ea typeface="Yu Gothic"/>
              </a:rPr>
              <a:t>A2:B2 を選択 → 挿入 → グラフ → 散布図 → 平面に点が 1 つ現れる。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6692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6692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6327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B5563"/>
                </a:solidFill>
                <a:latin typeface="Yu Gothic"/>
                <a:ea typeface="Yu Gothic"/>
              </a:rPr>
              <a:t>A 列・B 列を増やして 3〜5 軒のお店を追加 → 街の地図が見えてくる。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Story 1-2 ｜ 同じ発想は、お金の世界でも使える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2937"/>
                </a:solidFill>
                <a:latin typeface="Yu Gothic"/>
                <a:ea typeface="Yu Gothic"/>
              </a:rPr>
              <a:t>投資先を、2 つの数で並べる。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0972800" cy="146304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Yu Gothic"/>
                <a:ea typeface="Yu Gothic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投資先を選ぶときに知りたいのは「</a:t>
            </a:r>
            <a:r>
              <a:rPr sz="1900" b="1">
                <a:solidFill>
                  <a:srgbClr val="1F2937"/>
                </a:solidFill>
                <a:latin typeface="Yu Gothic"/>
                <a:ea typeface="Yu Gothic"/>
              </a:rPr>
              <a:t>どれくらい増えそうか</a:t>
            </a: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」と「</a:t>
            </a:r>
            <a:r>
              <a:rPr sz="1900" b="1">
                <a:solidFill>
                  <a:srgbClr val="1F2937"/>
                </a:solidFill>
                <a:latin typeface="Yu Gothic"/>
                <a:ea typeface="Yu Gothic"/>
              </a:rPr>
              <a:t>どれくらい上下に振れるか</a:t>
            </a: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」の 2 つ。</a:t>
            </a:r>
          </a:p>
          <a:p>
            <a:pPr algn="l">
              <a:lnSpc>
                <a:spcPct val="145000"/>
              </a:lnSpc>
            </a:pP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横軸に </a:t>
            </a:r>
            <a:r>
              <a:rPr sz="2000" b="1">
                <a:solidFill>
                  <a:srgbClr val="1E3A8A"/>
                </a:solidFill>
                <a:latin typeface="Yu Gothic"/>
                <a:ea typeface="Yu Gothic"/>
              </a:rPr>
              <a:t>リスク</a:t>
            </a: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、縦軸に </a:t>
            </a:r>
            <a:r>
              <a:rPr sz="2000" b="1">
                <a:solidFill>
                  <a:srgbClr val="1E3A8A"/>
                </a:solidFill>
                <a:latin typeface="Yu Gothic"/>
                <a:ea typeface="Yu Gothic"/>
              </a:rPr>
              <a:t>リターン</a:t>
            </a:r>
            <a:r>
              <a:rPr sz="1900" b="0">
                <a:solidFill>
                  <a:srgbClr val="4B5563"/>
                </a:solidFill>
                <a:latin typeface="Yu Gothic"/>
                <a:ea typeface="Yu Gothic"/>
              </a:rPr>
              <a:t>。同じ平面に並べられる。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007" y="4023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41879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2937"/>
                </a:solidFill>
                <a:latin typeface="Yu Gothic"/>
                <a:ea typeface="Yu Gothic"/>
              </a:rPr>
              <a:t>国債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607" y="47365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低リスク・低リターン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52120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Yu Gothic"/>
                <a:ea typeface="Yu Gothic"/>
              </a:rPr>
              <a:t>(1, 0.5)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767" y="4023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1367" y="41879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2937"/>
                </a:solidFill>
                <a:latin typeface="Yu Gothic"/>
                <a:ea typeface="Yu Gothic"/>
              </a:rPr>
              <a:t>日本株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1367" y="47365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中リスク・中リターン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1367" y="52120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Yu Gothic"/>
                <a:ea typeface="Yu Gothic"/>
              </a:rPr>
              <a:t>(15, 6)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7527" y="4023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6127" y="41879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Yu Gothic"/>
                <a:ea typeface="Yu Gothic"/>
              </a:rPr>
              <a:t>暗号資産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27" y="47365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DBEAFE"/>
                </a:solidFill>
                <a:latin typeface="Yu Gothic"/>
                <a:ea typeface="Yu Gothic"/>
              </a:rPr>
              <a:t>高リスク・高リターン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52120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(70, 25)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989320"/>
            <a:ext cx="10972800" cy="502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2937"/>
                </a:solidFill>
                <a:latin typeface="Yu Gothic"/>
                <a:ea typeface="Yu Gothic"/>
              </a:rPr>
              <a:t>◎  街の地図と同じく、(リスク, リターン) という 2 つの数で投資先の「立ち位置」が決まる。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Interactive ｜ 4 つの投資先を平面に並べてみる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2937"/>
                </a:solidFill>
                <a:latin typeface="Yu Gothic"/>
                <a:ea typeface="Yu Gothic"/>
              </a:rPr>
              <a:t>銘柄が、「位置」として見える。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4B5563"/>
                </a:solidFill>
                <a:latin typeface="Yu Gothic"/>
                <a:ea typeface="Yu Gothic"/>
              </a:rPr>
              <a:t>自分の許容リスク・目標リターンも 1 つの点。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4B5563"/>
                </a:solidFill>
                <a:latin typeface="Yu Gothic"/>
                <a:ea typeface="Yu Gothic"/>
              </a:rPr>
              <a:t>スライダーで動かして、自分の点が「どの銘柄に近いか」を眺める。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2937"/>
                </a:solidFill>
                <a:latin typeface="Yu Gothic"/>
                <a:ea typeface="Yu Gothic"/>
              </a:rPr>
              <a:t>あなたの位置  ＝  </a:t>
            </a:r>
            <a:r>
              <a:rPr sz="3800" b="1">
                <a:solidFill>
                  <a:srgbClr val="1E3A8A"/>
                </a:solidFill>
                <a:latin typeface="Yu Gothic"/>
                <a:ea typeface="Yu Gothic"/>
              </a:rPr>
              <a:t>( 15 ,  6 )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72800" cy="192024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59669"/>
                </a:solidFill>
                <a:latin typeface="Yu Gothic"/>
                <a:ea typeface="Yu Gothic"/>
              </a:rPr>
              <a:t>スプレッドシートで再現してみる ｜ タブ 2_リスクリターン ／ 銘柄リストを散布図で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9377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37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9011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B5563"/>
                </a:solidFill>
                <a:latin typeface="Yu Gothic"/>
                <a:ea typeface="Yu Gothic"/>
              </a:rPr>
              <a:t>A 列に銘柄名、B 列にリスク、C 列にリターン。例: 国債(1,0.5) / 日本株(15,6) / 新興国株(35,12) / 暗号資産(70,25)。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34924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492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3126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B5563"/>
                </a:solidFill>
                <a:latin typeface="Yu Gothic"/>
                <a:ea typeface="Yu Gothic"/>
              </a:rPr>
              <a:t>B 列・C 列を選択 → 挿入 → グラフ → 散布図。4 銘柄が平面に並ぶ。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7607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7607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7241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B5563"/>
                </a:solidFill>
                <a:latin typeface="Yu Gothic"/>
                <a:ea typeface="Yu Gothic"/>
              </a:rPr>
              <a:t>最下行に「自分」(15,6) を追加 → ダブルクリック → [設定] → 「系列を追加」で別系列に。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93C5FD"/>
                </a:solidFill>
                <a:latin typeface="Yu Gothic"/>
                <a:ea typeface="Yu Gothic"/>
              </a:rPr>
              <a:t>P A R T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Yu Gothic"/>
                <a:ea typeface="Yu Gothic"/>
              </a:rPr>
              <a:t>2 点が決まれば、</a:t>
            </a:r>
          </a:p>
          <a:p>
            <a:pPr algn="l">
              <a:lnSpc>
                <a:spcPct val="115000"/>
              </a:lnSpc>
            </a:pPr>
            <a:r>
              <a:rPr sz="7200" b="1">
                <a:solidFill>
                  <a:srgbClr val="F59E0B"/>
                </a:solidFill>
                <a:latin typeface="Yu Gothic"/>
                <a:ea typeface="Yu Gothic"/>
              </a:rPr>
              <a:t>距離が決まる。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CBD5E1"/>
                </a:solidFill>
                <a:latin typeface="Yu Gothic"/>
                <a:ea typeface="Yu Gothic"/>
              </a:rPr>
              <a:t>紀元前 6 世紀のピタゴラスが見つけた式が、今もあらゆる「近さ」の計算に使われている。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Problem ｜ ATM、どっちが近い？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2937"/>
                </a:solidFill>
                <a:latin typeface="Yu Gothic"/>
                <a:ea typeface="Yu Gothic"/>
              </a:rPr>
              <a:t>家からの「直線距離」を出したい。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24688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327" y="2633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B5563"/>
                </a:solidFill>
                <a:latin typeface="Yu Gothic"/>
                <a:ea typeface="Yu Gothic"/>
              </a:rPr>
              <a:t>あなたの家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3063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E3A8A"/>
                </a:solidFill>
                <a:latin typeface="Yu Gothic"/>
                <a:ea typeface="Yu Gothic"/>
              </a:rPr>
              <a:t>(0, 0)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2767" y="24688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7087" y="2633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B5563"/>
                </a:solidFill>
                <a:latin typeface="Yu Gothic"/>
                <a:ea typeface="Yu Gothic"/>
              </a:rPr>
              <a:t>コンビニ A の ATM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087" y="3063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E3A8A"/>
                </a:solidFill>
                <a:latin typeface="Yu Gothic"/>
                <a:ea typeface="Yu Gothic"/>
              </a:rPr>
              <a:t>(3, 4)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246888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1847" y="263347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B5563"/>
                </a:solidFill>
                <a:latin typeface="Yu Gothic"/>
                <a:ea typeface="Yu Gothic"/>
              </a:rPr>
              <a:t>銀行 B の ATM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847" y="3063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E3A8A"/>
                </a:solidFill>
                <a:latin typeface="Yu Gothic"/>
                <a:ea typeface="Yu Gothic"/>
              </a:rPr>
              <a:t>(6, 2)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4B5563"/>
                </a:solidFill>
                <a:latin typeface="Yu Gothic"/>
                <a:ea typeface="Yu Gothic"/>
              </a:rPr>
              <a:t>単位は「</a:t>
            </a:r>
            <a:r>
              <a:rPr sz="2400" b="1">
                <a:solidFill>
                  <a:srgbClr val="1E3A8A"/>
                </a:solidFill>
                <a:latin typeface="Yu Gothic"/>
                <a:ea typeface="Yu Gothic"/>
              </a:rPr>
              <a:t>100 m</a:t>
            </a:r>
            <a:r>
              <a:rPr sz="2200" b="0">
                <a:solidFill>
                  <a:srgbClr val="4B5563"/>
                </a:solidFill>
                <a:latin typeface="Yu Gothic"/>
                <a:ea typeface="Yu Gothic"/>
              </a:rPr>
              <a:t>」。両方とも東に少し、北に少し。</a:t>
            </a:r>
            <a:r>
              <a:rPr sz="2400" b="1">
                <a:solidFill>
                  <a:srgbClr val="1F2937"/>
                </a:solidFill>
                <a:latin typeface="Yu Gothic"/>
                <a:ea typeface="Yu Gothic"/>
              </a:rPr>
              <a:t>どっちが家から近い？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12080"/>
            <a:ext cx="10972800" cy="10058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1">
                <a:solidFill>
                  <a:srgbClr val="2563EB"/>
                </a:solidFill>
                <a:latin typeface="Yu Gothic"/>
                <a:ea typeface="Yu Gothic"/>
              </a:rPr>
              <a:t>◎  </a:t>
            </a:r>
            <a:r>
              <a:rPr sz="1800" b="0">
                <a:solidFill>
                  <a:srgbClr val="1F2937"/>
                </a:solidFill>
                <a:latin typeface="Yu Gothic"/>
                <a:ea typeface="Yu Gothic"/>
              </a:rPr>
              <a:t>x の差と y の差は引き算すれば出る。でも、それだけだと </a:t>
            </a:r>
            <a:r>
              <a:rPr sz="1800" b="1">
                <a:solidFill>
                  <a:srgbClr val="1F2937"/>
                </a:solidFill>
                <a:latin typeface="Yu Gothic"/>
                <a:ea typeface="Yu Gothic"/>
              </a:rPr>
              <a:t>斜めの距離</a:t>
            </a:r>
            <a:r>
              <a:rPr sz="1800" b="0">
                <a:solidFill>
                  <a:srgbClr val="1F2937"/>
                </a:solidFill>
                <a:latin typeface="Yu Gothic"/>
                <a:ea typeface="Yu Gothic"/>
              </a:rPr>
              <a:t>は分からない。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1F2937"/>
                </a:solidFill>
                <a:latin typeface="Yu Gothic"/>
                <a:ea typeface="Yu Gothic"/>
              </a:rPr>
              <a:t>    ここで紀元前 6 世紀の式が必要になる。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Translate ｜ 直角三角形の斜辺を求める式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2937"/>
                </a:solidFill>
                <a:latin typeface="Yu Gothic"/>
                <a:ea typeface="Yu Gothic"/>
              </a:rPr>
              <a:t>横の差・縦の差から、斜めの距離。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2 点 A、B を結ぶ線は、必ず横の差 dx と縦の差 dy で作る直角三角形の斜辺になる。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CA3AF"/>
                </a:solidFill>
                <a:latin typeface="Yu Gothic"/>
                <a:ea typeface="Yu Gothic"/>
              </a:rPr>
              <a:t>日本語で書くと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37560"/>
            <a:ext cx="10972800" cy="64008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Yu Gothic"/>
                <a:ea typeface="Yu Gothic"/>
              </a:rPr>
              <a:t>（横の差）² ＋ （縦の差）² ＝ （斜めの距離）²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CA3AF"/>
                </a:solidFill>
                <a:latin typeface="Yu Gothic"/>
                <a:ea typeface="Yu Gothic"/>
              </a:rPr>
              <a:t>記号で書くと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26280"/>
            <a:ext cx="10972800" cy="64008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2937"/>
                </a:solidFill>
                <a:latin typeface="Yu Gothic"/>
                <a:ea typeface="Yu Gothic"/>
              </a:rPr>
              <a:t>dx² ＋ dy² ＝ d²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CA3AF"/>
                </a:solidFill>
                <a:latin typeface="Yu Gothic"/>
                <a:ea typeface="Yu Gothic"/>
              </a:rPr>
              <a:t>d について解くと（両辺のルート）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715000"/>
            <a:ext cx="10972800" cy="640080"/>
          </a:xfrm>
          <a:prstGeom prst="roundRect">
            <a:avLst>
              <a:gd name="adj" fmla="val 7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Yu Gothic"/>
                <a:ea typeface="Yu Gothic"/>
              </a:rPr>
              <a:t>d ＝ √( dx² ＋ dy²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Interactive ｜ 2 点を動かして距離を眺める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F2937"/>
                </a:solidFill>
                <a:latin typeface="Yu Gothic"/>
                <a:ea typeface="Yu Gothic"/>
              </a:rPr>
              <a:t>点 B を動かすと、直角三角形が形を変える。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E3A8A"/>
                </a:solidFill>
                <a:latin typeface="Yu Gothic"/>
                <a:ea typeface="Yu Gothic"/>
              </a:rPr>
              <a:t>d ＝ √( 3² ＋ 4² )  ＝  √( 9 ＋ 16 )  ＝  √25  ＝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10972800" cy="269748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59669"/>
                </a:solidFill>
                <a:latin typeface="Yu Gothic"/>
                <a:ea typeface="Yu Gothic"/>
              </a:rPr>
              <a:t>スプレッドシートで再現してみる ｜ タブ 3_距離 ／ SQRT 関数で 2 点間距離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2062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1879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B5563"/>
                </a:solidFill>
                <a:latin typeface="Yu Gothic"/>
                <a:ea typeface="Yu Gothic"/>
              </a:rPr>
              <a:t>点 A の座標を A2:B2 に、点 B を A3:B3 に。例: A(0,0)、B(3,4)。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70915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0915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90871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B5563"/>
                </a:solidFill>
                <a:latin typeface="Yu Gothic"/>
                <a:ea typeface="Yu Gothic"/>
              </a:rPr>
              <a:t>D2 に  =A3-A2  （dx）、E2 に  =B3-B2  （dy）。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212079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93791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4B5563"/>
                </a:solidFill>
                <a:latin typeface="Yu Gothic"/>
                <a:ea typeface="Yu Gothic"/>
              </a:rPr>
              <a:t>F2 に  =SQRT(D2^2+E2^2)  → 距離が 1 セルで出る。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704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59669"/>
                </a:solidFill>
                <a:latin typeface="Yu Gothic"/>
                <a:ea typeface="Yu Gothic"/>
              </a:rPr>
              <a:t>応用： </a:t>
            </a:r>
            <a:r>
              <a:rPr sz="1400" b="0">
                <a:solidFill>
                  <a:srgbClr val="4B5563"/>
                </a:solidFill>
                <a:latin typeface="Yu Gothic"/>
                <a:ea typeface="Yu Gothic"/>
              </a:rPr>
              <a:t>複数のお店の座標を並べ、家との距離を全部計算 → </a:t>
            </a:r>
            <a:r>
              <a:rPr sz="1400" b="1">
                <a:solidFill>
                  <a:srgbClr val="1F2937"/>
                </a:solidFill>
                <a:latin typeface="Yu Gothic"/>
                <a:ea typeface="Yu Gothic"/>
              </a:rPr>
              <a:t>MIN 関数</a:t>
            </a:r>
            <a:r>
              <a:rPr sz="1400" b="0">
                <a:solidFill>
                  <a:srgbClr val="4B5563"/>
                </a:solidFill>
                <a:latin typeface="Yu Gothic"/>
                <a:ea typeface="Yu Gothic"/>
              </a:rPr>
              <a:t>で最も近いお店が出せる。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93C5FD"/>
                </a:solidFill>
                <a:latin typeface="Yu Gothic"/>
                <a:ea typeface="Yu Gothic"/>
              </a:rPr>
              <a:t>P A R T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Yu Gothic"/>
                <a:ea typeface="Yu Gothic"/>
              </a:rPr>
              <a:t>等距離の点を、</a:t>
            </a:r>
          </a:p>
          <a:p>
            <a:pPr algn="l">
              <a:lnSpc>
                <a:spcPct val="115000"/>
              </a:lnSpc>
            </a:pPr>
            <a:r>
              <a:rPr sz="7200" b="1">
                <a:solidFill>
                  <a:srgbClr val="F59E0B"/>
                </a:solidFill>
                <a:latin typeface="Yu Gothic"/>
                <a:ea typeface="Yu Gothic"/>
              </a:rPr>
              <a:t>集めると円。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CBD5E1"/>
                </a:solidFill>
                <a:latin typeface="Yu Gothic"/>
                <a:ea typeface="Yu Gothic"/>
              </a:rPr>
              <a:t>「方程式を満たす点を、無数に集めたもの」。それが図形の正体。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Story ｜ Wi-Fi の電波範囲、ATM の徒歩 5 分圏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2937"/>
                </a:solidFill>
                <a:latin typeface="Yu Gothic"/>
                <a:ea typeface="Yu Gothic"/>
              </a:rPr>
              <a:t>「中心から、同じだけ離れた点」。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0972800" cy="109728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Yu Gothic"/>
                <a:ea typeface="Yu Gothic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4B5563"/>
                </a:solidFill>
                <a:latin typeface="Yu Gothic"/>
                <a:ea typeface="Yu Gothic"/>
              </a:rPr>
              <a:t>Wi-Fi の電波範囲、配達可能エリア、避難所からの徒歩 5 分圏 — </a:t>
            </a:r>
            <a:r>
              <a:rPr sz="1700" b="1">
                <a:solidFill>
                  <a:srgbClr val="1F2937"/>
                </a:solidFill>
                <a:latin typeface="Yu Gothic"/>
                <a:ea typeface="Yu Gothic"/>
              </a:rPr>
              <a:t>すべて「中心からの距離が一定」の言い換え。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A3AF"/>
                </a:solidFill>
                <a:latin typeface="Yu Gothic"/>
                <a:ea typeface="Yu Gothic"/>
              </a:rPr>
              <a:t>日本語で書くと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13048"/>
            <a:ext cx="10972800" cy="59436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13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2937"/>
                </a:solidFill>
                <a:latin typeface="Yu Gothic"/>
                <a:ea typeface="Yu Gothic"/>
              </a:rPr>
              <a:t>中心 (a, b) から 点 (x, y) までの距離 ＝ 半径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A3AF"/>
                </a:solidFill>
                <a:latin typeface="Yu Gothic"/>
                <a:ea typeface="Yu Gothic"/>
              </a:rPr>
              <a:t>三平方の定理を当てはめると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73168"/>
            <a:ext cx="10972800" cy="59436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7316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2937"/>
                </a:solidFill>
                <a:latin typeface="Yu Gothic"/>
                <a:ea typeface="Yu Gothic"/>
              </a:rPr>
              <a:t>√( (x − a)² ＋ (y − b)² ) ＝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A3AF"/>
                </a:solidFill>
                <a:latin typeface="Yu Gothic"/>
                <a:ea typeface="Yu Gothic"/>
              </a:rPr>
              <a:t>両辺を 2 乗してきれいにすると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33288"/>
            <a:ext cx="10972800" cy="594360"/>
          </a:xfrm>
          <a:prstGeom prst="roundRect">
            <a:avLst>
              <a:gd name="adj" fmla="val 7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73328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</a:rPr>
              <a:t>(x − a)² ＋ (y − b)² ＝ 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Interactive ｜ 中心と半径を動かしてみる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2937"/>
                </a:solidFill>
                <a:latin typeface="Yu Gothic"/>
                <a:ea typeface="Yu Gothic"/>
              </a:rPr>
              <a:t>方程式が、形になる瞬間。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Yu Gothic"/>
                <a:ea typeface="Yu Gothic"/>
              </a:rPr>
              <a:t>(x − 0)² ＋ (y − 0)² ＝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0972800" cy="260604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59669"/>
                </a:solidFill>
                <a:latin typeface="Yu Gothic"/>
                <a:ea typeface="Yu Gothic"/>
              </a:rPr>
              <a:t>スプレッドシートで再現してみる ｜ タブ 4_円 ／ 上半分と下半分に分けて描く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2976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793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A 列に x を −5〜5 まで 0.1 刻みで並べる（101 行）。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8006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78231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B 列に  =SQRT(25-A2^2)  （上半分）、C 列に  =-SQRT(25-A2^2)  （下半分）。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303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03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28523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A:C を選択 → 挿入 → グラフ → 散布図 → ダブルクリック → [カスタマイズ] → [系列] で「データポイントを線で結ぶ」をオン。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93C5FD"/>
                </a:solidFill>
                <a:latin typeface="Yu Gothic"/>
                <a:ea typeface="Yu Gothic"/>
              </a:rPr>
              <a:t>P A R T 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Yu Gothic"/>
                <a:ea typeface="Yu Gothic"/>
              </a:rPr>
              <a:t>不等号で、</a:t>
            </a:r>
          </a:p>
          <a:p>
            <a:pPr algn="l">
              <a:lnSpc>
                <a:spcPct val="115000"/>
              </a:lnSpc>
            </a:pPr>
            <a:r>
              <a:rPr sz="7200" b="1">
                <a:solidFill>
                  <a:srgbClr val="F59E0B"/>
                </a:solidFill>
                <a:latin typeface="Yu Gothic"/>
                <a:ea typeface="Yu Gothic"/>
              </a:rPr>
              <a:t>「内・外」を分ける。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CBD5E1"/>
                </a:solidFill>
                <a:latin typeface="Yu Gothic"/>
                <a:ea typeface="Yu Gothic"/>
              </a:rPr>
              <a:t>配達可能エリア、ジオフェンス通知、検索半径 —— すべて円の方程式の不等号バージョン。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Interactive ｜ 点を動かして、内・外・上を判定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F2937"/>
                </a:solidFill>
                <a:latin typeface="Yu Gothic"/>
                <a:ea typeface="Yu Gothic"/>
              </a:rPr>
              <a:t>等号を不等号に変えると、「領域」になる。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家から半径 </a:t>
            </a: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5 (= 500 m)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 の徒歩 5 分圏。点 P をスライダーで動かすと、判定が変わる。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1E3A8A"/>
                </a:solidFill>
                <a:latin typeface="Yu Gothic"/>
                <a:ea typeface="Yu Gothic"/>
              </a:rPr>
              <a:t>3² ＋ 2² ＝ 13</a:t>
            </a:r>
            <a:r>
              <a:rPr sz="2400" b="0">
                <a:solidFill>
                  <a:srgbClr val="9CA3AF"/>
                </a:solidFill>
                <a:latin typeface="Yu Gothic"/>
                <a:ea typeface="Yu Gothic"/>
              </a:rPr>
              <a:t>    vs    </a:t>
            </a:r>
            <a:r>
              <a:rPr sz="3200" b="1">
                <a:solidFill>
                  <a:srgbClr val="1E3A8A"/>
                </a:solidFill>
                <a:latin typeface="Yu Gothic"/>
                <a:ea typeface="Yu Gothic"/>
              </a:rPr>
              <a:t>r² ＝ 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6052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家から P までの距離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F2937"/>
                </a:solidFill>
                <a:latin typeface="Yu Gothic"/>
                <a:ea typeface="Yu Gothic"/>
              </a:rPr>
              <a:t>3.61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16052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FF6FF"/>
                </a:solidFill>
                <a:latin typeface="Yu Gothic"/>
                <a:ea typeface="Yu Gothic"/>
              </a:rPr>
              <a:t>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2628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Yu Gothic"/>
                <a:ea typeface="Yu Gothic"/>
              </a:rPr>
              <a:t>内側 (徒歩 5 分圏内)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3212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59669"/>
                </a:solidFill>
                <a:latin typeface="Yu Gothic"/>
                <a:ea typeface="Yu Gothic"/>
              </a:rPr>
              <a:t>Sheets: タブ 5_領域 ／ IF 関数で内・外・上を判定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Yu Gothic"/>
                <a:ea typeface="Yu Gothic"/>
              </a:rPr>
              <a:t>C2 = </a:t>
            </a:r>
            <a:r>
              <a:rPr sz="1400" b="1">
                <a:solidFill>
                  <a:srgbClr val="1F2937"/>
                </a:solidFill>
                <a:latin typeface="Yu Gothic"/>
                <a:ea typeface="Yu Gothic"/>
              </a:rPr>
              <a:t>A2^2+B2^2</a:t>
            </a:r>
            <a:r>
              <a:rPr sz="1400" b="0">
                <a:solidFill>
                  <a:srgbClr val="4B5563"/>
                </a:solidFill>
                <a:latin typeface="Yu Gothic"/>
                <a:ea typeface="Yu Gothic"/>
              </a:rPr>
              <a:t>  ／  D2 = </a:t>
            </a:r>
            <a:r>
              <a:rPr sz="1400" b="1">
                <a:solidFill>
                  <a:srgbClr val="1F2937"/>
                </a:solidFill>
                <a:latin typeface="Yu Gothic"/>
                <a:ea typeface="Yu Gothic"/>
              </a:rPr>
              <a:t>IF(C2&lt;25, "内", IF(C2=25, "上", "外"))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Apply ｜ 「内・外を分ける」発想は、お金・サービスの世界に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F2937"/>
                </a:solidFill>
                <a:latin typeface="Yu Gothic"/>
                <a:ea typeface="Yu Gothic"/>
              </a:rPr>
              <a:t>不等号 1 つで、サービスの線引きを書く。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28600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047" y="245059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◎  配達可能エリア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047" y="292608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B5563"/>
                </a:solidFill>
                <a:latin typeface="Yu Gothic"/>
                <a:ea typeface="Yu Gothic"/>
              </a:rPr>
              <a:t>店舗 (a, b) を中心に半径 r km。住所の座標が (x−a)² + (y−b)² ≤ r² なら受付。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2286000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450592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◎  銀行 ATM 検索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926080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CBD5E1"/>
                </a:solidFill>
                <a:latin typeface="Yu Gothic"/>
                <a:ea typeface="Yu Gothic"/>
              </a:rPr>
              <a:t>現在地から半径 1 km の ATM を一覧。距離の 2 乗で 1 km 以内かを並べ替える。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3727" y="4005072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047" y="416966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◎  ジオフェンス通知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4645152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CBD5E1"/>
                </a:solidFill>
                <a:latin typeface="Yu Gothic"/>
                <a:ea typeface="Yu Gothic"/>
              </a:rPr>
              <a:t>「家に近づいたら通知」。スマホは GPS 座標を常に円の方程式に入れて判定している。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4005072"/>
            <a:ext cx="5440680" cy="15544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4169664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◎  ゲームの当たり判定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4645152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B5563"/>
                </a:solidFill>
                <a:latin typeface="Yu Gothic"/>
                <a:ea typeface="Yu Gothic"/>
              </a:rPr>
              <a:t>キャラクターと敵弾の距離が一定以下なら被弾。ピタゴラスの式が毎フレーム動く。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943600"/>
            <a:ext cx="10972800" cy="457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1F2937"/>
                </a:solidFill>
                <a:latin typeface="Yu Gothic"/>
                <a:ea typeface="Yu Gothic"/>
              </a:rPr>
              <a:t>身の回りの「内・外を分ける」サービスのほとんどは、</a:t>
            </a:r>
            <a:r>
              <a:rPr sz="1500" b="1">
                <a:solidFill>
                  <a:srgbClr val="1E3A8A"/>
                </a:solidFill>
                <a:latin typeface="Yu Gothic"/>
                <a:ea typeface="Yu Gothic"/>
              </a:rPr>
              <a:t>円の方程式を不等号にしただけ。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93C5FD"/>
                </a:solidFill>
                <a:latin typeface="Yu Gothic"/>
                <a:ea typeface="Yu Gothic"/>
              </a:rPr>
              <a:t>P A R T 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Yu Gothic"/>
                <a:ea typeface="Yu Gothic"/>
              </a:rPr>
              <a:t>距離は、</a:t>
            </a:r>
          </a:p>
          <a:p>
            <a:pPr algn="l">
              <a:lnSpc>
                <a:spcPct val="115000"/>
              </a:lnSpc>
            </a:pPr>
            <a:r>
              <a:rPr sz="7200" b="1">
                <a:solidFill>
                  <a:srgbClr val="F59E0B"/>
                </a:solidFill>
                <a:latin typeface="Yu Gothic"/>
                <a:ea typeface="Yu Gothic"/>
              </a:rPr>
              <a:t>「似ている度」。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CBD5E1"/>
                </a:solidFill>
                <a:latin typeface="Yu Gothic"/>
                <a:ea typeface="Yu Gothic"/>
              </a:rPr>
              <a:t>AI のおすすめも、銘柄選びも、根っこは「点と点の距離」を測るだけ。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Interactive ｜ あなたの好みに最も近い映画を見つける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2937"/>
                </a:solidFill>
                <a:latin typeface="Yu Gothic"/>
                <a:ea typeface="Yu Gothic"/>
              </a:rPr>
              <a:t>近い ＝ 似ている。 遠い ＝ 違う。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映画を「</a:t>
            </a: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アクション度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」と「</a:t>
            </a: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ロマンス度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」の 2 軸で表す。</a:t>
            </a:r>
          </a:p>
          <a:p>
            <a:pPr algn="l">
              <a:lnSpc>
                <a:spcPct val="155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自分の好みを動かすと、最も近い 1 本がリアルタイムで切り替わる。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距離  d  ＝  √( (映画のx − 自分のx)² ＋ (映画のy − 自分のy)²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10972800" cy="150876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59669"/>
                </a:solidFill>
                <a:latin typeface="Yu Gothic"/>
                <a:ea typeface="Yu Gothic"/>
              </a:rPr>
              <a:t>スプレッドシートで再現してみる ｜ タブ 6_類似度 ／ 全映画との距離を一括計算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D2 = </a:t>
            </a:r>
            <a:r>
              <a:rPr sz="1600" b="1">
                <a:solidFill>
                  <a:srgbClr val="1F2937"/>
                </a:solidFill>
                <a:latin typeface="Yu Gothic"/>
                <a:ea typeface="Yu Gothic"/>
              </a:rPr>
              <a:t>SQRT((B2-$F$1)^2+(C2-$F$2)^2)</a:t>
            </a: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  → 各映画との距離が並ぶ。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7"/>
                </a:solidFill>
                <a:latin typeface="Yu Gothic"/>
                <a:ea typeface="Yu Gothic"/>
              </a:rPr>
              <a:t>E1 = MIN(D2:D6)、 E2 = INDEX(A2:A6, MATCH(E1, D2:D6, 0))</a:t>
            </a:r>
            <a:r>
              <a:rPr sz="1600" b="0">
                <a:solidFill>
                  <a:srgbClr val="4B5563"/>
                </a:solidFill>
                <a:latin typeface="Yu Gothic"/>
                <a:ea typeface="Yu Gothic"/>
              </a:rPr>
              <a:t>  → 最も近い映画名。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Simulation ｜ Spotify / Netflix がやっていること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F2937"/>
                </a:solidFill>
                <a:latin typeface="Yu Gothic"/>
                <a:ea typeface="Yu Gothic"/>
              </a:rPr>
              <a:t>気分を 2 つ動かすだけで、12 曲の並びが変わる。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各曲を「</a:t>
            </a: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テンポ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」と「</a:t>
            </a: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明るさ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」の点として表す。</a:t>
            </a:r>
          </a:p>
          <a:p>
            <a:pPr algn="l">
              <a:lnSpc>
                <a:spcPct val="155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自分の気分の点との</a:t>
            </a:r>
            <a:r>
              <a:rPr sz="2200" b="1">
                <a:solidFill>
                  <a:srgbClr val="1E3A8A"/>
                </a:solidFill>
                <a:latin typeface="Yu Gothic"/>
                <a:ea typeface="Yu Gothic"/>
              </a:rPr>
              <a:t>距離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でマッチ度（％）を算出 → リアルタイムで並び替え。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93C5FD"/>
                </a:solidFill>
                <a:latin typeface="Yu Gothic"/>
                <a:ea typeface="Yu Gothic"/>
              </a:rPr>
              <a:t>▶  いまの気分プレイリスト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Yu Gothic"/>
                <a:ea typeface="Yu Gothic"/>
              </a:rPr>
              <a:t>POWERED BY 距離の式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CBD5E1"/>
                </a:solidFill>
                <a:latin typeface="Yu Gothic"/>
                <a:ea typeface="Yu Gothic"/>
              </a:rPr>
              <a:t>実物の Spotify は </a:t>
            </a:r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数十〜数百の特徴量</a:t>
            </a:r>
            <a:r>
              <a:rPr sz="1800" b="0">
                <a:solidFill>
                  <a:srgbClr val="CBD5E1"/>
                </a:solidFill>
                <a:latin typeface="Yu Gothic"/>
                <a:ea typeface="Yu Gothic"/>
              </a:rPr>
              <a:t>（声・楽器・歌詞のトピック…）を使うが、</a:t>
            </a:r>
          </a:p>
          <a:p>
            <a:pPr algn="l">
              <a:lnSpc>
                <a:spcPct val="155000"/>
              </a:lnSpc>
            </a:pPr>
            <a:r>
              <a:rPr sz="2200" b="1">
                <a:solidFill>
                  <a:srgbClr val="F59E0B"/>
                </a:solidFill>
                <a:latin typeface="Yu Gothic"/>
                <a:ea typeface="Yu Gothic"/>
              </a:rPr>
              <a:t>距離 = √(差の二乗の和) </a:t>
            </a:r>
            <a:r>
              <a:rPr sz="1800" b="0">
                <a:solidFill>
                  <a:srgbClr val="CBD5E1"/>
                </a:solidFill>
                <a:latin typeface="Yu Gothic"/>
                <a:ea typeface="Yu Gothic"/>
              </a:rPr>
              <a:t>という今日の式が、軸を増やしてもそのまま動く。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Simulation ｜ 顔認証も「数の組」と「距離」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1F2937"/>
                </a:solidFill>
                <a:latin typeface="Yu Gothic"/>
                <a:ea typeface="Yu Gothic"/>
              </a:rPr>
              <a:t>顔も、特徴の数値で書き表せる。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顔の特徴（幅、目の間隔、鼻の長さ、口の幅）を </a:t>
            </a: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4 つの数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で表す。</a:t>
            </a:r>
          </a:p>
          <a:p>
            <a:pPr algn="l">
              <a:lnSpc>
                <a:spcPct val="155000"/>
              </a:lnSpc>
            </a:pP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登録済み 8 人と</a:t>
            </a:r>
            <a:r>
              <a:rPr sz="2200" b="1">
                <a:solidFill>
                  <a:srgbClr val="1E3A8A"/>
                </a:solidFill>
                <a:latin typeface="Yu Gothic"/>
                <a:ea typeface="Yu Gothic"/>
              </a:rPr>
              <a:t>距離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を比較し、しきい値より小さければ「</a:t>
            </a:r>
            <a:r>
              <a:rPr sz="2200" b="1">
                <a:solidFill>
                  <a:srgbClr val="059669"/>
                </a:solidFill>
                <a:latin typeface="Yu Gothic"/>
                <a:ea typeface="Yu Gothic"/>
              </a:rPr>
              <a:t>本人</a:t>
            </a:r>
            <a:r>
              <a:rPr sz="2000" b="0">
                <a:solidFill>
                  <a:srgbClr val="4B5563"/>
                </a:solidFill>
                <a:latin typeface="Yu Gothic"/>
                <a:ea typeface="Yu Gothic"/>
              </a:rPr>
              <a:t>」と判定。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10972800" cy="24688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3A8A"/>
                </a:solidFill>
                <a:latin typeface="Yu Gothic"/>
                <a:ea typeface="Yu Gothic"/>
              </a:rPr>
              <a:t>今日の簡易版  vs  実物の顔認証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502920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091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9CA3AF"/>
                </a:solidFill>
                <a:latin typeface="Yu Gothic"/>
                <a:ea typeface="Yu Gothic"/>
              </a:rPr>
              <a:t>今日のデモ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F2937"/>
                </a:solidFill>
                <a:latin typeface="Yu Gothic"/>
                <a:ea typeface="Yu Gothic"/>
              </a:rPr>
              <a:t>4 次元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15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Yu Gothic"/>
                <a:ea typeface="Yu Gothic"/>
              </a:rPr>
              <a:t>（幅・目の間隔・鼻・口の 4 つ）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572000"/>
            <a:ext cx="5029200" cy="15544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7091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FF6FF"/>
                </a:solidFill>
                <a:latin typeface="Yu Gothic"/>
                <a:ea typeface="Yu Gothic"/>
              </a:rPr>
              <a:t>実物の顔認証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074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128 次元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715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BEAFE"/>
                </a:solidFill>
                <a:latin typeface="Yu Gothic"/>
                <a:ea typeface="Yu Gothic"/>
              </a:rPr>
              <a:t>距離の式は同じ：  d = √(Σ (差)²)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図形と方程式</a:t>
            </a: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     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9CA3AF"/>
                </a:solidFill>
                <a:latin typeface="Yu Gothic"/>
                <a:ea typeface="Yu Gothic"/>
              </a:rPr>
              <a:t>SUMMARY ／ UNIFIED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563EB"/>
                </a:solidFill>
                <a:latin typeface="Yu Gothic"/>
                <a:ea typeface="Yu Gothic"/>
              </a:rPr>
              <a:t>本日のまとめ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1F2937"/>
                </a:solidFill>
                <a:latin typeface="Yu Gothic"/>
                <a:ea typeface="Yu Gothic"/>
              </a:rPr>
              <a:t>三つの、統一原理。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B5563"/>
                </a:solidFill>
                <a:latin typeface="Yu Gothic"/>
                <a:ea typeface="Yu Gothic"/>
              </a:rPr>
              <a:t>今日扱った 5 つのテーマは、次の 3 つの原理に集約できる。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05840" cy="105156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05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2880360"/>
            <a:ext cx="9784080" cy="10515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017520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位置は 2 つの数の組で書ける（座標）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290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Yu Gothic"/>
                <a:ea typeface="Yu Gothic"/>
              </a:rPr>
              <a:t>地図でも、お金の世界でも、軸を 2 本決めれば「立ち位置」が点として描ける。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80"/>
            <a:ext cx="1005840" cy="105156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1005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4069080"/>
            <a:ext cx="9784080" cy="10515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40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方程式を満たす点を集めると、図形になる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61772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Yu Gothic"/>
                <a:ea typeface="Yu Gothic"/>
              </a:rPr>
              <a:t>(x − a)² + (y − b)² = r² → 円。式は「点を生成する装置」、図形は「式の解の集合」。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57800"/>
            <a:ext cx="1005840" cy="105156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57800"/>
            <a:ext cx="1005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  <a:ea typeface="Yu Gothic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5257800"/>
            <a:ext cx="9784080" cy="10515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5394960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F2937"/>
                </a:solidFill>
                <a:latin typeface="Yu Gothic"/>
                <a:ea typeface="Yu Gothic"/>
              </a:rPr>
              <a:t>距離は「近さ」を測る万能の道具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80644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B5563"/>
                </a:solidFill>
                <a:latin typeface="Yu Gothic"/>
                <a:ea typeface="Yu Gothic"/>
              </a:rPr>
              <a:t>三平方の定理から出る 1 つの式が、ATM 検索・Spotify・顔認証まで支えている。軸を増やせばどこにでも届く。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Yu Gothic"/>
                <a:ea typeface="Yu Gothic"/>
              </a:rPr>
              <a:t>情報数理入門 第 3 回 ／ 小船 幹生 ／ 平成国際大学 情報デザイン学部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